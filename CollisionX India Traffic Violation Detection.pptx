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Montserrat SemiBold"/>
      <p:regular r:id="rId20"/>
      <p:bold r:id="rId21"/>
      <p:italic r:id="rId22"/>
      <p:boldItalic r:id="rId23"/>
    </p:embeddedFont>
    <p:embeddedFont>
      <p:font typeface="Montserrat"/>
      <p:regular r:id="rId24"/>
      <p:bold r:id="rId25"/>
      <p:italic r:id="rId26"/>
      <p:boldItalic r:id="rId27"/>
    </p:embeddedFont>
    <p:embeddedFont>
      <p:font typeface="Open Sans SemiBold"/>
      <p:regular r:id="rId28"/>
      <p:bold r:id="rId29"/>
      <p:italic r:id="rId30"/>
      <p:boldItalic r:id="rId31"/>
    </p:embeddedFont>
    <p:embeddedFont>
      <p:font typeface="Open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regular.fntdata"/><Relationship Id="rId22" Type="http://schemas.openxmlformats.org/officeDocument/2006/relationships/font" Target="fonts/MontserratSemiBold-italic.fntdata"/><Relationship Id="rId21" Type="http://schemas.openxmlformats.org/officeDocument/2006/relationships/font" Target="fonts/MontserratSemiBold-bold.fntdata"/><Relationship Id="rId24" Type="http://schemas.openxmlformats.org/officeDocument/2006/relationships/font" Target="fonts/Montserrat-regular.fntdata"/><Relationship Id="rId23" Type="http://schemas.openxmlformats.org/officeDocument/2006/relationships/font" Target="fonts/Montserrat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OpenSansSemiBold-regular.fntdata"/><Relationship Id="rId27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SemiBold-boldItalic.fntdata"/><Relationship Id="rId30" Type="http://schemas.openxmlformats.org/officeDocument/2006/relationships/font" Target="fonts/OpenSansSemiBold-italic.fntdata"/><Relationship Id="rId11" Type="http://schemas.openxmlformats.org/officeDocument/2006/relationships/slide" Target="slides/slide6.xml"/><Relationship Id="rId33" Type="http://schemas.openxmlformats.org/officeDocument/2006/relationships/font" Target="fonts/OpenSans-bold.fntdata"/><Relationship Id="rId10" Type="http://schemas.openxmlformats.org/officeDocument/2006/relationships/slide" Target="slides/slide5.xml"/><Relationship Id="rId32" Type="http://schemas.openxmlformats.org/officeDocument/2006/relationships/font" Target="fonts/OpenSans-regular.fntdata"/><Relationship Id="rId13" Type="http://schemas.openxmlformats.org/officeDocument/2006/relationships/slide" Target="slides/slide8.xml"/><Relationship Id="rId35" Type="http://schemas.openxmlformats.org/officeDocument/2006/relationships/font" Target="fonts/OpenSans-boldItalic.fntdata"/><Relationship Id="rId12" Type="http://schemas.openxmlformats.org/officeDocument/2006/relationships/slide" Target="slides/slide7.xml"/><Relationship Id="rId34" Type="http://schemas.openxmlformats.org/officeDocument/2006/relationships/font" Target="fonts/OpenSans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8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4.png"/><Relationship Id="rId8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27.png"/><Relationship Id="rId9" Type="http://schemas.openxmlformats.org/officeDocument/2006/relationships/image" Target="../media/image1.png"/><Relationship Id="rId5" Type="http://schemas.openxmlformats.org/officeDocument/2006/relationships/image" Target="../media/image14.png"/><Relationship Id="rId6" Type="http://schemas.openxmlformats.org/officeDocument/2006/relationships/image" Target="../media/image5.png"/><Relationship Id="rId7" Type="http://schemas.openxmlformats.org/officeDocument/2006/relationships/image" Target="../media/image16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9" Type="http://schemas.openxmlformats.org/officeDocument/2006/relationships/image" Target="../media/image46.png"/><Relationship Id="rId5" Type="http://schemas.openxmlformats.org/officeDocument/2006/relationships/image" Target="../media/image36.png"/><Relationship Id="rId6" Type="http://schemas.openxmlformats.org/officeDocument/2006/relationships/image" Target="../media/image19.png"/><Relationship Id="rId7" Type="http://schemas.openxmlformats.org/officeDocument/2006/relationships/image" Target="../media/image23.png"/><Relationship Id="rId8" Type="http://schemas.openxmlformats.org/officeDocument/2006/relationships/image" Target="../media/image3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32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Relationship Id="rId7" Type="http://schemas.openxmlformats.org/officeDocument/2006/relationships/image" Target="../media/image24.png"/><Relationship Id="rId8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29.png"/><Relationship Id="rId9" Type="http://schemas.openxmlformats.org/officeDocument/2006/relationships/image" Target="../media/image25.png"/><Relationship Id="rId5" Type="http://schemas.openxmlformats.org/officeDocument/2006/relationships/image" Target="../media/image31.png"/><Relationship Id="rId6" Type="http://schemas.openxmlformats.org/officeDocument/2006/relationships/image" Target="../media/image54.png"/><Relationship Id="rId7" Type="http://schemas.openxmlformats.org/officeDocument/2006/relationships/image" Target="../media/image28.png"/><Relationship Id="rId8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39.png"/><Relationship Id="rId5" Type="http://schemas.openxmlformats.org/officeDocument/2006/relationships/image" Target="../media/image34.png"/><Relationship Id="rId6" Type="http://schemas.openxmlformats.org/officeDocument/2006/relationships/image" Target="../media/image37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5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56.png"/><Relationship Id="rId5" Type="http://schemas.openxmlformats.org/officeDocument/2006/relationships/image" Target="../media/image33.png"/><Relationship Id="rId6" Type="http://schemas.openxmlformats.org/officeDocument/2006/relationships/image" Target="../media/image40.png"/><Relationship Id="rId7" Type="http://schemas.openxmlformats.org/officeDocument/2006/relationships/image" Target="../media/image4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2.png"/><Relationship Id="rId4" Type="http://schemas.openxmlformats.org/officeDocument/2006/relationships/image" Target="../media/image4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7.png"/><Relationship Id="rId4" Type="http://schemas.openxmlformats.org/officeDocument/2006/relationships/image" Target="../media/image4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48.png"/><Relationship Id="rId9" Type="http://schemas.openxmlformats.org/officeDocument/2006/relationships/image" Target="../media/image55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5200" y="3638550"/>
            <a:ext cx="5181600" cy="173146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525678" y="1487834"/>
            <a:ext cx="5140642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CollisionX India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470671" y="2409825"/>
            <a:ext cx="525065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CC00"/>
                </a:solidFill>
                <a:latin typeface="Montserrat"/>
                <a:ea typeface="Montserrat"/>
                <a:cs typeface="Montserrat"/>
                <a:sym typeface="Montserrat"/>
              </a:rPr>
              <a:t>Indian Traffic Violation Detection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895725" y="4067175"/>
            <a:ext cx="44005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Internship Program:</a:t>
            </a:r>
            <a:r>
              <a:rPr b="0" i="0" lang="en-US" sz="18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 Infosys Springboard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895725" y="4925214"/>
            <a:ext cx="440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Duration:</a:t>
            </a:r>
            <a:r>
              <a:rPr b="0" i="0" lang="en-US" sz="18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 8 weeks | </a:t>
            </a:r>
            <a:r>
              <a:rPr b="1" i="0" lang="en-US" sz="18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Track:</a:t>
            </a:r>
            <a:r>
              <a:rPr b="0" i="0" lang="en-US" sz="18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 Python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05012"/>
            <a:ext cx="5048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62000" y="571500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336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Introduction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762000" y="1219200"/>
            <a:ext cx="10668000" cy="28575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2338387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India is witnessing a rapid rise in traffic violations, posing significant challenges to urban management.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05012"/>
            <a:ext cx="5048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066800" y="3100387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143000" y="3100387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Urbanization Impact: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Rapid urban growth has drastically increased vehicle density.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66800" y="3852862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143000" y="3852862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Rising Frequency: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Higher density leads to frequent and varied traffic violations.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066800" y="4605337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143000" y="4605337"/>
            <a:ext cx="4667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Current Limitations: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Traditional monitoring methods are largely manual, reactive, and resource-intensive.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05012"/>
            <a:ext cx="5048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052762"/>
            <a:ext cx="504825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762000" y="571500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336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Problem Statement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762000" y="1219200"/>
            <a:ext cx="10668000" cy="28575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005012"/>
            <a:ext cx="5048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6381750" y="1947245"/>
            <a:ext cx="5048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Manual monitoring is slow, inconsistent, and lacks real-time insights, contributing to accidents and congestion.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715125" y="3338512"/>
            <a:ext cx="46505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B9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Core Issues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096125" y="3814762"/>
            <a:ext cx="404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Manual monitoring is slow &amp; inconsistent.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096125" y="4262437"/>
            <a:ext cx="404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Lack of quick, actionable data insights.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7096125" y="4710112"/>
            <a:ext cx="4048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Critical need for an automated analytical system.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96125" y="38671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96125" y="43148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096125" y="476250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919412"/>
            <a:ext cx="33654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919412"/>
            <a:ext cx="33654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919412"/>
            <a:ext cx="3365599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762000" y="1081087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336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Objectives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762000" y="1728787"/>
            <a:ext cx="10668000" cy="28575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762000" y="2233612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Our primary goals for the CollisionX project are focused on data-driven solutions.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1095375" y="3919537"/>
            <a:ext cx="288364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B9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Analyze Data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095375" y="4433887"/>
            <a:ext cx="2746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To rigorously analyze traffic violation data to identify underlying causes and trends.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4746575" y="3919537"/>
            <a:ext cx="288364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B9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Interactive App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4746575" y="4433887"/>
            <a:ext cx="2746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To create an interactive Streamlit web application for real-time monitoring.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397775" y="3919537"/>
            <a:ext cx="28837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B9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Visualize Insights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397775" y="4433887"/>
            <a:ext cx="274647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To visualize complex patterns and provide clear, actionable insights for authorities.</a:t>
            </a:r>
            <a:endParaRPr/>
          </a:p>
        </p:txBody>
      </p:sp>
      <p:pic>
        <p:nvPicPr>
          <p:cNvPr descr="image.png" id="141" name="Google Shape;14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95375" y="32813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6575" y="328136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97775" y="3281362"/>
            <a:ext cx="42862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762000" y="571500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336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Dataset Information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762000" y="1219200"/>
            <a:ext cx="10668000" cy="28575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762000" y="2624137"/>
            <a:ext cx="50482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4,000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762000" y="3386137"/>
            <a:ext cx="5048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TOTAL RECORDS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762000" y="4119562"/>
            <a:ext cx="50482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33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762000" y="4881562"/>
            <a:ext cx="5048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FEATURES EXTRACTED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381750" y="2305050"/>
            <a:ext cx="530066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B9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Key Features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686550" y="2800350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762750" y="2800350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Violation Details: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Type, Fine Amount, Date/Time.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686550" y="3248025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762750" y="3248025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Driver Info: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Demographics, License Type.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686550" y="3695700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762750" y="3695700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Vehicle Data: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Vehicle Type, Make, Model.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686550" y="4143375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762750" y="4143375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Road Conditions: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Surface Type, Traffic Density.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686550" y="4591050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762750" y="4591050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Weather Factors: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Visibility, Precipitation.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686550" y="5038725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762750" y="5038725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Speed &amp; Limits: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Recorded Speed vs. Limit.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633662"/>
            <a:ext cx="2452687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00437" y="2633662"/>
            <a:ext cx="2452687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633662"/>
            <a:ext cx="2452687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77312" y="2633662"/>
            <a:ext cx="2452687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762000" y="1671637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336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Tech Stack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762000" y="2319337"/>
            <a:ext cx="10668000" cy="28575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1049535" y="3633787"/>
            <a:ext cx="19252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B9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Language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1095375" y="4148137"/>
            <a:ext cx="18335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Python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3787973" y="3633787"/>
            <a:ext cx="19252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B9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Tools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3833812" y="4148137"/>
            <a:ext cx="1833562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Jupyter, VS Code, GitHub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6526410" y="3633787"/>
            <a:ext cx="19252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B9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Framework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6572250" y="4148137"/>
            <a:ext cx="18335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Streamlit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9264848" y="3633787"/>
            <a:ext cx="19252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B9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Libraries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9310687" y="4148137"/>
            <a:ext cx="1833562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Pandas, NumPy, Matplotlib</a:t>
            </a:r>
            <a:endParaRPr/>
          </a:p>
        </p:txBody>
      </p:sp>
      <p:pic>
        <p:nvPicPr>
          <p:cNvPr descr="image.png" id="187" name="Google Shape;18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45468" y="299561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60093" y="29956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74718" y="2995612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060781" y="2995612"/>
            <a:ext cx="33337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05012"/>
            <a:ext cx="5048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716583"/>
            <a:ext cx="5048250" cy="1335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242369"/>
            <a:ext cx="5048250" cy="1335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4768155"/>
            <a:ext cx="5048250" cy="133528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 txBox="1"/>
          <p:nvPr/>
        </p:nvSpPr>
        <p:spPr>
          <a:xfrm>
            <a:off x="762000" y="571500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336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Libraries &amp; Frameworks</a:t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762000" y="1219200"/>
            <a:ext cx="10668000" cy="28575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2" name="Google Shape;202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2014537"/>
            <a:ext cx="50292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6619875" y="1907083"/>
            <a:ext cx="48506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B9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Streamlit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6619875" y="2373808"/>
            <a:ext cx="46196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Turns data scripts into shareable web apps in minutes. Essential for our dashboard UI.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6619875" y="3432869"/>
            <a:ext cx="48506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B9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Pandas &amp; NumPy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6619875" y="3899594"/>
            <a:ext cx="46196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High-performance data manipulation, analysis, and numerical computing.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6619875" y="4958655"/>
            <a:ext cx="48506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B9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Matplotlib &amp; Seaborn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6619875" y="5425380"/>
            <a:ext cx="46196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Comprehensive libraries for creating static, animated, and interactive visualizations.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85975"/>
            <a:ext cx="5048250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076575"/>
            <a:ext cx="5048250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067175"/>
            <a:ext cx="5048250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5057775"/>
            <a:ext cx="5048250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6048375"/>
            <a:ext cx="50482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762000" y="180975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336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Workflow Diagram</a:t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762000" y="828675"/>
            <a:ext cx="10668000" cy="28575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762000" y="13335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Our systematic approach ensures raw data is transformed into meaningful insights efficiently.</a:t>
            </a:r>
            <a:endParaRPr/>
          </a:p>
        </p:txBody>
      </p:sp>
      <p:pic>
        <p:nvPicPr>
          <p:cNvPr descr="image.png" id="222" name="Google Shape;222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81750" y="1143000"/>
            <a:ext cx="5048250" cy="55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343218"/>
            <a:ext cx="5191125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343218"/>
            <a:ext cx="5191125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181668"/>
            <a:ext cx="5191125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4181668"/>
            <a:ext cx="5191125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 txBox="1"/>
          <p:nvPr/>
        </p:nvSpPr>
        <p:spPr>
          <a:xfrm>
            <a:off x="762000" y="123632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336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Feature Extraction</a:t>
            </a:r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762000" y="771332"/>
            <a:ext cx="10668000" cy="285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762000" y="942975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We categorized the 33 extracted features into four key domains for analysis.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1095375" y="2343343"/>
            <a:ext cx="480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B9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Violation Specifics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1095375" y="2857693"/>
            <a:ext cx="4572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Type of violation, Fine amount, Payment status, Safety compliance.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6572250" y="2343343"/>
            <a:ext cx="480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B9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Driver &amp; Vehicle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6572250" y="2857693"/>
            <a:ext cx="4572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Driver demographics, Vehicle make/model, Registration type.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1095375" y="5181793"/>
            <a:ext cx="480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B9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Environmental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1095375" y="5696143"/>
            <a:ext cx="4572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Weather conditions, Road surface state, Light conditions.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6572250" y="5181793"/>
            <a:ext cx="480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B9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Spatio-Temporal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6572250" y="5696143"/>
            <a:ext cx="4572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Geolocation (Lat/Long), Time of day, Day of week, High-risk zones.</a:t>
            </a:r>
            <a:endParaRPr/>
          </a:p>
        </p:txBody>
      </p:sp>
      <p:pic>
        <p:nvPicPr>
          <p:cNvPr descr="image.png" id="243" name="Google Shape;24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5375" y="1705168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72250" y="1705168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95375" y="4543618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72250" y="4543618"/>
            <a:ext cx="42862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05012"/>
            <a:ext cx="5048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2"/>
          <p:cNvSpPr txBox="1"/>
          <p:nvPr/>
        </p:nvSpPr>
        <p:spPr>
          <a:xfrm>
            <a:off x="762000" y="571500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336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Results &amp; Insights</a:t>
            </a:r>
            <a:endParaRPr/>
          </a:p>
        </p:txBody>
      </p:sp>
      <p:sp>
        <p:nvSpPr>
          <p:cNvPr id="254" name="Google Shape;254;p22"/>
          <p:cNvSpPr/>
          <p:nvPr/>
        </p:nvSpPr>
        <p:spPr>
          <a:xfrm>
            <a:off x="762000" y="1219200"/>
            <a:ext cx="10668000" cy="28575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762000" y="2162175"/>
            <a:ext cx="530066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B9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Key Findings</a:t>
            </a:r>
            <a:endParaRPr/>
          </a:p>
        </p:txBody>
      </p:sp>
      <p:pic>
        <p:nvPicPr>
          <p:cNvPr descr="image.png" id="256" name="Google Shape;25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05012"/>
            <a:ext cx="24574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2"/>
          <p:cNvSpPr txBox="1"/>
          <p:nvPr/>
        </p:nvSpPr>
        <p:spPr>
          <a:xfrm>
            <a:off x="1066800" y="2638425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1143000" y="2638425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High-Risk Zones: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Identified specific intersections with 40% higher violation rates.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1066800" y="3390900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1143000" y="3390900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Violation Patterns: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Peak violations occur during evening rush hours (5 PM - 8 PM).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1066800" y="4143375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1143000" y="4143375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Common Types: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Speeding and Signal Jumping account for 60% of all cases.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1066800" y="4895850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1143000" y="4895850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Vehicle Trends: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Two-wheelers are the most frequent violators in urban zones.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9" name="Google Shape;26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533525"/>
            <a:ext cx="5143500" cy="4752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533525"/>
            <a:ext cx="5143500" cy="47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3"/>
          <p:cNvSpPr txBox="1"/>
          <p:nvPr/>
        </p:nvSpPr>
        <p:spPr>
          <a:xfrm>
            <a:off x="762000" y="571500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336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Conclusion &amp; Future Scope</a:t>
            </a:r>
            <a:endParaRPr/>
          </a:p>
        </p:txBody>
      </p:sp>
      <p:sp>
        <p:nvSpPr>
          <p:cNvPr id="273" name="Google Shape;273;p23"/>
          <p:cNvSpPr/>
          <p:nvPr/>
        </p:nvSpPr>
        <p:spPr>
          <a:xfrm>
            <a:off x="762000" y="1219200"/>
            <a:ext cx="10668000" cy="28575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 txBox="1"/>
          <p:nvPr/>
        </p:nvSpPr>
        <p:spPr>
          <a:xfrm>
            <a:off x="1095375" y="1819275"/>
            <a:ext cx="47505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B9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Conclusion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1095375" y="2333625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The project effectively analyzes traffic violation data to identify critical patterns.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1095375" y="3133725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It demonstrates the power of data-driven decision making in urban traffic monitoring.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1095375" y="3933825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Highlights key trends such as peak violation times and high-risk vehicle categories.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6619875" y="1819275"/>
            <a:ext cx="47505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B9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Future Scope</a:t>
            </a:r>
            <a:endParaRPr/>
          </a:p>
        </p:txBody>
      </p:sp>
      <p:pic>
        <p:nvPicPr>
          <p:cNvPr descr="image.png" id="279" name="Google Shape;27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5375" y="18478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19875" y="184785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3"/>
          <p:cNvSpPr txBox="1"/>
          <p:nvPr/>
        </p:nvSpPr>
        <p:spPr>
          <a:xfrm>
            <a:off x="6924675" y="2295525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7000875" y="2295525"/>
            <a:ext cx="4143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Machine Learning: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Implementing predictive models for violation forecasting.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6924675" y="3048000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7000875" y="3048000"/>
            <a:ext cx="4143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IoT Integration: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Connecting with Smart Cameras for automated real-time tagging.</a:t>
            </a:r>
            <a:endParaRPr/>
          </a:p>
        </p:txBody>
      </p:sp>
      <p:sp>
        <p:nvSpPr>
          <p:cNvPr id="285" name="Google Shape;285;p23"/>
          <p:cNvSpPr txBox="1"/>
          <p:nvPr/>
        </p:nvSpPr>
        <p:spPr>
          <a:xfrm>
            <a:off x="6924675" y="3800475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7000875" y="3800475"/>
            <a:ext cx="4143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Policy Recs: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Generating automated reports for traffic policy adjustments.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66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1" name="Google Shape;29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4"/>
          <p:cNvSpPr txBox="1"/>
          <p:nvPr/>
        </p:nvSpPr>
        <p:spPr>
          <a:xfrm>
            <a:off x="0" y="1642169"/>
            <a:ext cx="1219200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Demo Time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0" y="3251894"/>
            <a:ext cx="12192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Live walkthrough of the Streamlit Application</a:t>
            </a:r>
            <a:endParaRPr/>
          </a:p>
        </p:txBody>
      </p:sp>
      <p:pic>
        <p:nvPicPr>
          <p:cNvPr descr="image.png" id="294" name="Google Shape;29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263330"/>
            <a:ext cx="12192000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9" name="Google Shape;29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839217"/>
            <a:ext cx="12192000" cy="317941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5"/>
          <p:cNvSpPr txBox="1"/>
          <p:nvPr/>
        </p:nvSpPr>
        <p:spPr>
          <a:xfrm>
            <a:off x="3229200" y="2490000"/>
            <a:ext cx="57336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100" u="none" cap="none" strike="noStrike">
                <a:solidFill>
                  <a:srgbClr val="00336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</a:t>
            </a:r>
            <a:r>
              <a:rPr lang="en-US" sz="6100">
                <a:solidFill>
                  <a:srgbClr val="00336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HANK YOU</a:t>
            </a:r>
            <a:endParaRPr sz="3900"/>
          </a:p>
        </p:txBody>
      </p:sp>
      <p:sp>
        <p:nvSpPr>
          <p:cNvPr id="302" name="Google Shape;302;p25"/>
          <p:cNvSpPr txBox="1"/>
          <p:nvPr/>
        </p:nvSpPr>
        <p:spPr>
          <a:xfrm>
            <a:off x="266075" y="3727142"/>
            <a:ext cx="1104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We are open to questions.</a:t>
            </a:r>
            <a:endParaRPr b="1"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7" name="Google Shape;30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6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336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Image Sources</a:t>
            </a:r>
            <a:endParaRPr/>
          </a:p>
        </p:txBody>
      </p:sp>
      <p:sp>
        <p:nvSpPr>
          <p:cNvPr id="309" name="Google Shape;309;p26"/>
          <p:cNvSpPr/>
          <p:nvPr/>
        </p:nvSpPr>
        <p:spPr>
          <a:xfrm>
            <a:off x="571500" y="1219200"/>
            <a:ext cx="11049000" cy="28575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6"/>
          <p:cNvSpPr/>
          <p:nvPr/>
        </p:nvSpPr>
        <p:spPr>
          <a:xfrm>
            <a:off x="571500" y="153352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6"/>
          <p:cNvSpPr/>
          <p:nvPr/>
        </p:nvSpPr>
        <p:spPr>
          <a:xfrm>
            <a:off x="571500" y="231829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6"/>
          <p:cNvSpPr/>
          <p:nvPr/>
        </p:nvSpPr>
        <p:spPr>
          <a:xfrm>
            <a:off x="571500" y="3103066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6"/>
          <p:cNvSpPr/>
          <p:nvPr/>
        </p:nvSpPr>
        <p:spPr>
          <a:xfrm>
            <a:off x="571500" y="388783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6"/>
          <p:cNvSpPr/>
          <p:nvPr/>
        </p:nvSpPr>
        <p:spPr>
          <a:xfrm>
            <a:off x="571500" y="467260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6"/>
          <p:cNvSpPr/>
          <p:nvPr/>
        </p:nvSpPr>
        <p:spPr>
          <a:xfrm>
            <a:off x="571500" y="23087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6"/>
          <p:cNvSpPr/>
          <p:nvPr/>
        </p:nvSpPr>
        <p:spPr>
          <a:xfrm>
            <a:off x="571500" y="23087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6"/>
          <p:cNvSpPr/>
          <p:nvPr/>
        </p:nvSpPr>
        <p:spPr>
          <a:xfrm>
            <a:off x="571500" y="30935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6"/>
          <p:cNvSpPr/>
          <p:nvPr/>
        </p:nvSpPr>
        <p:spPr>
          <a:xfrm>
            <a:off x="571500" y="30935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6"/>
          <p:cNvSpPr/>
          <p:nvPr/>
        </p:nvSpPr>
        <p:spPr>
          <a:xfrm>
            <a:off x="571500" y="38783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6"/>
          <p:cNvSpPr/>
          <p:nvPr/>
        </p:nvSpPr>
        <p:spPr>
          <a:xfrm>
            <a:off x="571500" y="38783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6"/>
          <p:cNvSpPr/>
          <p:nvPr/>
        </p:nvSpPr>
        <p:spPr>
          <a:xfrm>
            <a:off x="571500" y="466308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6"/>
          <p:cNvSpPr/>
          <p:nvPr/>
        </p:nvSpPr>
        <p:spPr>
          <a:xfrm>
            <a:off x="571500" y="466308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6"/>
          <p:cNvSpPr/>
          <p:nvPr/>
        </p:nvSpPr>
        <p:spPr>
          <a:xfrm>
            <a:off x="571500" y="544785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6"/>
          <p:cNvSpPr/>
          <p:nvPr/>
        </p:nvSpPr>
        <p:spPr>
          <a:xfrm>
            <a:off x="571500" y="544785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5" name="Google Shape;32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8294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6"/>
          <p:cNvSpPr txBox="1"/>
          <p:nvPr/>
        </p:nvSpPr>
        <p:spPr>
          <a:xfrm>
            <a:off x="1666875" y="167640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https://indian-drivers.com/wp-content/uploads/2025/04/Drimo-Blog-Images-9-1-1024x538.jpg</a:t>
            </a:r>
            <a:endParaRPr/>
          </a:p>
        </p:txBody>
      </p:sp>
      <p:sp>
        <p:nvSpPr>
          <p:cNvPr id="327" name="Google Shape;327;p26"/>
          <p:cNvSpPr txBox="1"/>
          <p:nvPr/>
        </p:nvSpPr>
        <p:spPr>
          <a:xfrm>
            <a:off x="1666875" y="192211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indian-drivers.com</a:t>
            </a:r>
            <a:endParaRPr/>
          </a:p>
        </p:txBody>
      </p:sp>
      <p:pic>
        <p:nvPicPr>
          <p:cNvPr descr="image.png" id="328" name="Google Shape;32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6771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6"/>
          <p:cNvSpPr txBox="1"/>
          <p:nvPr/>
        </p:nvSpPr>
        <p:spPr>
          <a:xfrm>
            <a:off x="1666875" y="246117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https://img.freepik.com/premium-vector/business-data-analytics-design-concept-finance-investment-monitor-report-dashboard-abstract-vector_773844-490.jpg</a:t>
            </a:r>
            <a:endParaRPr/>
          </a:p>
        </p:txBody>
      </p:sp>
      <p:sp>
        <p:nvSpPr>
          <p:cNvPr id="330" name="Google Shape;330;p26"/>
          <p:cNvSpPr txBox="1"/>
          <p:nvPr/>
        </p:nvSpPr>
        <p:spPr>
          <a:xfrm>
            <a:off x="1666875" y="270688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www.freepik.com</a:t>
            </a:r>
            <a:endParaRPr/>
          </a:p>
        </p:txBody>
      </p:sp>
      <p:pic>
        <p:nvPicPr>
          <p:cNvPr descr="image.png" id="331" name="Google Shape;331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5248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6"/>
          <p:cNvSpPr txBox="1"/>
          <p:nvPr/>
        </p:nvSpPr>
        <p:spPr>
          <a:xfrm>
            <a:off x="1666875" y="324594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https://miro.medium.com/0*5gKVOiLJN-kKgJcx.png</a:t>
            </a:r>
            <a:endParaRPr/>
          </a:p>
        </p:txBody>
      </p:sp>
      <p:sp>
        <p:nvSpPr>
          <p:cNvPr id="333" name="Google Shape;333;p26"/>
          <p:cNvSpPr txBox="1"/>
          <p:nvPr/>
        </p:nvSpPr>
        <p:spPr>
          <a:xfrm>
            <a:off x="1666875" y="349165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medium.com</a:t>
            </a:r>
            <a:endParaRPr/>
          </a:p>
        </p:txBody>
      </p:sp>
      <p:pic>
        <p:nvPicPr>
          <p:cNvPr descr="image.png" id="334" name="Google Shape;334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3726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6"/>
          <p:cNvSpPr txBox="1"/>
          <p:nvPr/>
        </p:nvSpPr>
        <p:spPr>
          <a:xfrm>
            <a:off x="1666875" y="403071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https://www.business-science.io/assets/2019-06-27-data-science-workflow/the-data-science-workflow.jpeg</a:t>
            </a:r>
            <a:endParaRPr/>
          </a:p>
        </p:txBody>
      </p:sp>
      <p:sp>
        <p:nvSpPr>
          <p:cNvPr id="336" name="Google Shape;336;p26"/>
          <p:cNvSpPr txBox="1"/>
          <p:nvPr/>
        </p:nvSpPr>
        <p:spPr>
          <a:xfrm>
            <a:off x="1666875" y="427642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www.business-science.io</a:t>
            </a:r>
            <a:endParaRPr/>
          </a:p>
        </p:txBody>
      </p:sp>
      <p:pic>
        <p:nvPicPr>
          <p:cNvPr descr="image.png" id="337" name="Google Shape;337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2203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6"/>
          <p:cNvSpPr txBox="1"/>
          <p:nvPr/>
        </p:nvSpPr>
        <p:spPr>
          <a:xfrm>
            <a:off x="1666875" y="481548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https://i.ytimg.com/vi/QeJLStiZubo/hq720.jpg?sqp=-oaymwEhCK4FEIIDSFryq4qpAxMIARUAAAAAGAElAADIQj0AgKJD&amp;rs=AOn4CLCsfUUF9g3HrtO95Vk0QpvbAs__1g</a:t>
            </a:r>
            <a:endParaRPr/>
          </a:p>
        </p:txBody>
      </p:sp>
      <p:sp>
        <p:nvSpPr>
          <p:cNvPr id="339" name="Google Shape;339;p26"/>
          <p:cNvSpPr txBox="1"/>
          <p:nvPr/>
        </p:nvSpPr>
        <p:spPr>
          <a:xfrm>
            <a:off x="1666875" y="506119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www.youtube.com</a:t>
            </a:r>
            <a:endParaRPr/>
          </a:p>
        </p:txBody>
      </p:sp>
      <p:pic>
        <p:nvPicPr>
          <p:cNvPr descr="image.png" id="340" name="Google Shape;340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60680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6"/>
          <p:cNvSpPr txBox="1"/>
          <p:nvPr/>
        </p:nvSpPr>
        <p:spPr>
          <a:xfrm>
            <a:off x="1666875" y="560025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https://slidemodel.com/wp-content/uploads/FF0137-01-contact-us-slide-16x9-2.jpg</a:t>
            </a:r>
            <a:endParaRPr/>
          </a:p>
        </p:txBody>
      </p:sp>
      <p:sp>
        <p:nvSpPr>
          <p:cNvPr id="342" name="Google Shape;342;p26"/>
          <p:cNvSpPr txBox="1"/>
          <p:nvPr/>
        </p:nvSpPr>
        <p:spPr>
          <a:xfrm>
            <a:off x="1666875" y="584596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slidemodel.com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